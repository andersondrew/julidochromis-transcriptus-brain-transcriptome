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B4A7"/>
    <a:srgbClr val="8C8A93"/>
    <a:srgbClr val="D1F0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70"/>
    <p:restoredTop sz="94712"/>
  </p:normalViewPr>
  <p:slideViewPr>
    <p:cSldViewPr snapToGrid="0">
      <p:cViewPr varScale="1">
        <p:scale>
          <a:sx n="120" d="100"/>
          <a:sy n="120" d="100"/>
        </p:scale>
        <p:origin x="6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58AD0-9E64-AD19-5C0C-07846036F6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28FC79-040E-08FD-5613-CD4737A1DF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7212C-26F5-C911-EBB0-E0D69CB2A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AA2AA-64EB-6F41-8573-8F7567AE42B1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F3869-6EBA-6828-D4B6-A86AA8A38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0F41B-E27B-F0D7-337C-C833E650F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8062-6878-BE48-8DE1-B00CC6A23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6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D3F96-F497-CC77-0E49-7D35971C5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957DE-BE6C-0268-90B9-AAAF35ED3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9584B-A30B-BA7D-8D14-A1390491E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AA2AA-64EB-6F41-8573-8F7567AE42B1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F9913-D8A4-6230-A97A-70418C0B0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19E73-FEA2-D271-865E-E0208B6DB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8062-6878-BE48-8DE1-B00CC6A23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8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58F7B-0423-3FED-6EA8-DBA87CF6E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044702-2E00-836B-227F-EAB58729B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6DABD-F093-D20A-7EC4-151B8F237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AA2AA-64EB-6F41-8573-8F7567AE42B1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E940A-F8BB-84D6-EA62-811ABB065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7495-EE66-FBB3-78F2-443ACBF2F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8062-6878-BE48-8DE1-B00CC6A23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900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4767C-F110-6B62-C51C-B66992EAD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C6DBC-5EEF-2691-149B-7790FCD460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0087E-A2F0-797B-AA40-1CC25FEF2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697C0C-36B4-3F09-7873-8A7B6CDD9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AA2AA-64EB-6F41-8573-8F7567AE42B1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60D51D-3FFC-20A9-ED0F-3775BE814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C26C67-ACE1-51E7-D232-06CF156E6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8062-6878-BE48-8DE1-B00CC6A23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702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C6D35-79A0-2FF2-6EF1-18F751554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7E5E6-A66C-3062-16D2-2A2258898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38FC61-6D13-38AC-37DC-E22A1E4D62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FFEAD5-0135-3BB5-7422-C08BCB802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7A2B00-6A9F-FFA2-E95C-307599F789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69AE6-1F13-CEDA-090C-EB9B4F9DD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AA2AA-64EB-6F41-8573-8F7567AE42B1}" type="datetimeFigureOut">
              <a:rPr lang="en-US" smtClean="0"/>
              <a:t>9/25/26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3FB346-E75A-E5BD-F303-37194AF30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B18154-E9D2-0C08-7E5A-EB5CF8443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8062-6878-BE48-8DE1-B00CC6A23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159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E95C3-604E-DACD-54EA-BB2F8015B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159FC1-0EF0-08C5-7176-227FB0C07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AA2AA-64EB-6F41-8573-8F7567AE42B1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8FE84A-E56A-604C-2336-B803F93B5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A7670C-A5FD-E2DA-5F5A-C7A4E4379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8062-6878-BE48-8DE1-B00CC6A23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864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12D3BF-5DA3-FEA8-29C9-5CCD1DA2C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AA2AA-64EB-6F41-8573-8F7567AE42B1}" type="datetimeFigureOut">
              <a:rPr lang="en-US" smtClean="0"/>
              <a:t>9/25/26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944305-64D2-2843-4AD8-1D1DF7CDA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A4983-1B72-AFEB-BA57-60487501A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8062-6878-BE48-8DE1-B00CC6A23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47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9168C-7604-DEF8-4B5F-43C80BA84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9580D-050B-3EA0-3BC2-421C89395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3B4A09-3221-5541-DB73-C4C55D0E4A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20162F-F514-3D8E-65D3-CDB4273A4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AA2AA-64EB-6F41-8573-8F7567AE42B1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23BB1E-EEA8-18EA-8802-2CF65016F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9E773-183B-7C3D-1554-769D60675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8062-6878-BE48-8DE1-B00CC6A23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599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C0BB6-089C-BA5F-2CDA-B06475D1B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0D03D8-28D9-F392-076A-BCDF104BBC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02F6DC-F079-13D5-E0F0-14F87DE43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86E07D-7982-4594-CC70-EB24599ED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AA2AA-64EB-6F41-8573-8F7567AE42B1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F6233-E692-6B50-1C65-A430D4DC1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80C29A-238E-A1A8-84F4-99B73142C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8062-6878-BE48-8DE1-B00CC6A23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6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D0FC4-C886-462A-FFDF-5A1499E11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4C0910-65A7-1E45-5038-3A51775BF2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71205-6DC4-C9B4-443B-7AEEABDCA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AA2AA-64EB-6F41-8573-8F7567AE42B1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B3411-ECE3-F4A5-823C-5C9C119DE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3FC21-7DEC-76ED-B3C9-797E82561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8062-6878-BE48-8DE1-B00CC6A23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61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BB8AAB-6305-0CEE-1BF3-E553EFE326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87C146-7965-A0C1-57B7-D263F2995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B9E6C-CAA7-E704-16B9-3A1DD936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AA2AA-64EB-6F41-8573-8F7567AE42B1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C8040-3AD8-489A-10F0-FBA54112F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B87C7-4982-D84B-C645-0547118D9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8062-6878-BE48-8DE1-B00CC6A23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087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2D7B83-5C38-1B69-6BBB-ECA506C3E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BD13D-588A-CB7A-B61D-C7DAEC192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B6AFB-A1B1-383C-B9C9-16F3E928E3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3AA2AA-64EB-6F41-8573-8F7567AE42B1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A6C67-BED5-F55C-4332-40C1597F65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7BA35-B8A8-D597-ED4F-6E65E075F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BF8062-6878-BE48-8DE1-B00CC6A23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959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3DD65D-6C58-4F67-42FA-093FDB187E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098058"/>
              </p:ext>
            </p:extLst>
          </p:nvPr>
        </p:nvGraphicFramePr>
        <p:xfrm>
          <a:off x="0" y="2347"/>
          <a:ext cx="12161521" cy="68843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703">
                  <a:extLst>
                    <a:ext uri="{9D8B030D-6E8A-4147-A177-3AD203B41FA5}">
                      <a16:colId xmlns:a16="http://schemas.microsoft.com/office/drawing/2014/main" val="991146457"/>
                    </a:ext>
                  </a:extLst>
                </a:gridCol>
                <a:gridCol w="422703">
                  <a:extLst>
                    <a:ext uri="{9D8B030D-6E8A-4147-A177-3AD203B41FA5}">
                      <a16:colId xmlns:a16="http://schemas.microsoft.com/office/drawing/2014/main" val="2177916454"/>
                    </a:ext>
                  </a:extLst>
                </a:gridCol>
                <a:gridCol w="422703">
                  <a:extLst>
                    <a:ext uri="{9D8B030D-6E8A-4147-A177-3AD203B41FA5}">
                      <a16:colId xmlns:a16="http://schemas.microsoft.com/office/drawing/2014/main" val="1196453136"/>
                    </a:ext>
                  </a:extLst>
                </a:gridCol>
                <a:gridCol w="422703">
                  <a:extLst>
                    <a:ext uri="{9D8B030D-6E8A-4147-A177-3AD203B41FA5}">
                      <a16:colId xmlns:a16="http://schemas.microsoft.com/office/drawing/2014/main" val="2032891186"/>
                    </a:ext>
                  </a:extLst>
                </a:gridCol>
                <a:gridCol w="422703">
                  <a:extLst>
                    <a:ext uri="{9D8B030D-6E8A-4147-A177-3AD203B41FA5}">
                      <a16:colId xmlns:a16="http://schemas.microsoft.com/office/drawing/2014/main" val="1724695261"/>
                    </a:ext>
                  </a:extLst>
                </a:gridCol>
                <a:gridCol w="2818019">
                  <a:extLst>
                    <a:ext uri="{9D8B030D-6E8A-4147-A177-3AD203B41FA5}">
                      <a16:colId xmlns:a16="http://schemas.microsoft.com/office/drawing/2014/main" val="946570523"/>
                    </a:ext>
                  </a:extLst>
                </a:gridCol>
                <a:gridCol w="2818019">
                  <a:extLst>
                    <a:ext uri="{9D8B030D-6E8A-4147-A177-3AD203B41FA5}">
                      <a16:colId xmlns:a16="http://schemas.microsoft.com/office/drawing/2014/main" val="2473270210"/>
                    </a:ext>
                  </a:extLst>
                </a:gridCol>
                <a:gridCol w="735328">
                  <a:extLst>
                    <a:ext uri="{9D8B030D-6E8A-4147-A177-3AD203B41FA5}">
                      <a16:colId xmlns:a16="http://schemas.microsoft.com/office/drawing/2014/main" val="3067835448"/>
                    </a:ext>
                  </a:extLst>
                </a:gridCol>
                <a:gridCol w="735328">
                  <a:extLst>
                    <a:ext uri="{9D8B030D-6E8A-4147-A177-3AD203B41FA5}">
                      <a16:colId xmlns:a16="http://schemas.microsoft.com/office/drawing/2014/main" val="2891410833"/>
                    </a:ext>
                  </a:extLst>
                </a:gridCol>
                <a:gridCol w="735328">
                  <a:extLst>
                    <a:ext uri="{9D8B030D-6E8A-4147-A177-3AD203B41FA5}">
                      <a16:colId xmlns:a16="http://schemas.microsoft.com/office/drawing/2014/main" val="1996046717"/>
                    </a:ext>
                  </a:extLst>
                </a:gridCol>
                <a:gridCol w="735328">
                  <a:extLst>
                    <a:ext uri="{9D8B030D-6E8A-4147-A177-3AD203B41FA5}">
                      <a16:colId xmlns:a16="http://schemas.microsoft.com/office/drawing/2014/main" val="839298467"/>
                    </a:ext>
                  </a:extLst>
                </a:gridCol>
                <a:gridCol w="735328">
                  <a:extLst>
                    <a:ext uri="{9D8B030D-6E8A-4147-A177-3AD203B41FA5}">
                      <a16:colId xmlns:a16="http://schemas.microsoft.com/office/drawing/2014/main" val="979897670"/>
                    </a:ext>
                  </a:extLst>
                </a:gridCol>
                <a:gridCol w="735328">
                  <a:extLst>
                    <a:ext uri="{9D8B030D-6E8A-4147-A177-3AD203B41FA5}">
                      <a16:colId xmlns:a16="http://schemas.microsoft.com/office/drawing/2014/main" val="1636595541"/>
                    </a:ext>
                  </a:extLst>
                </a:gridCol>
              </a:tblGrid>
              <a:tr h="454620">
                <a:tc gridSpan="5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Grouping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Interpretation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POA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Vd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OT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837508"/>
                  </a:ext>
                </a:extLst>
              </a:tr>
              <a:tr h="363696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Cross-Sexual Transfer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Independent Mechanism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Per.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Per.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Per.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979057"/>
                  </a:ext>
                </a:extLst>
              </a:tr>
              <a:tr h="42431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Yes—Male/female gene expression shared with other sex </a:t>
                      </a:r>
                      <a:r>
                        <a:rPr lang="en-US" sz="1100"/>
                        <a:t>by size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No—Gene expression is size-biased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441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55.4%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451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45.4%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5040296"/>
                  </a:ext>
                </a:extLst>
              </a:tr>
              <a:tr h="42431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Yes–Larger females are expressing male-biased genes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Yes—Smaller females have unique expression but share role with small males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8.8%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353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35.5%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3779342"/>
                  </a:ext>
                </a:extLst>
              </a:tr>
              <a:tr h="42431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Yes—Smaller males are expressing female-biased genes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Yes—Larger males have unique expression but share role with large females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148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18.6%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349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22.2%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4.0%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469746"/>
                  </a:ext>
                </a:extLst>
              </a:tr>
              <a:tr h="42431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Conditional—If larger females are upregulating androgen signaling genes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Yes—Larger females have unique expression but share role with large males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15.6%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11.3%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123329"/>
                  </a:ext>
                </a:extLst>
              </a:tr>
              <a:tr h="42431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                                  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Conditional—If smaller males are downregulating androgen signaling genes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Yes—Smaller males have unique expression but share role with small females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123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7.8%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3755023"/>
                  </a:ext>
                </a:extLst>
              </a:tr>
              <a:tr h="42431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No--Gene expression is sex-biased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No—Gene expression does not change with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856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54.6%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701648"/>
                  </a:ext>
                </a:extLst>
              </a:tr>
              <a:tr h="42431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No—Males have unique expression based on relative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Yes—Males have unique expression based on relative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035314"/>
                  </a:ext>
                </a:extLst>
              </a:tr>
              <a:tr h="42431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No—Females have unique expression based on relative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Yes—Females have unique expression based on relative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950573"/>
                  </a:ext>
                </a:extLst>
              </a:tr>
              <a:tr h="42431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No—Larger females and males have unique gene expression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Yes—Larger females and males have unique gene expression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949618"/>
                  </a:ext>
                </a:extLst>
              </a:tr>
              <a:tr h="42431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No—Smaller females and males have unique gene expression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Yes—Smaller females and males have unique gene expression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075015"/>
                  </a:ext>
                </a:extLst>
              </a:tr>
              <a:tr h="35948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No—Complete sex by size interaction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Yes—Each group has unique gene expression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21730"/>
                  </a:ext>
                </a:extLst>
              </a:tr>
              <a:tr h="35948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No—Unexpected biological 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No—Unexpected biological 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6875"/>
                  </a:ext>
                </a:extLst>
              </a:tr>
              <a:tr h="35948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No-Unexpected biological 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No-Unexpected biological 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243119"/>
                  </a:ext>
                </a:extLst>
              </a:tr>
              <a:tr h="35948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No-Unexpected biological 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No-Unexpected biological 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9525" marR="13716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086053"/>
                  </a:ext>
                </a:extLst>
              </a:tr>
              <a:tr h="356287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Null model—no difference among groups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Null model—no difference among groups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94.2%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13304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89.5%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14116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93.4%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630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4542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29879</TotalTime>
  <Words>486</Words>
  <Application>Microsoft Macintosh PowerPoint</Application>
  <PresentationFormat>Widescreen</PresentationFormat>
  <Paragraphs>213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Anderson</dc:creator>
  <cp:lastModifiedBy>Andrew Anderson</cp:lastModifiedBy>
  <cp:revision>10</cp:revision>
  <dcterms:created xsi:type="dcterms:W3CDTF">2026-04-30T19:31:28Z</dcterms:created>
  <dcterms:modified xsi:type="dcterms:W3CDTF">2026-09-25T17:26:29Z</dcterms:modified>
</cp:coreProperties>
</file>